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第一章在机构内造出脆弱性（X→转化→Y1）；2. 第二章在市场显化为投诉，并分解真实风险 vs 表达成本；3. 第三章治理冲击经治理过程纠偏，回拉投诉、闭环；同一风险构念被机构数据/公开投诉/治理准实验三测互证。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总框架·三章串联：风险产生 → 风险显化 → 风险纠偏（闭环）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11643055" cy="402336"/>
          </a:xfrm>
          <a:prstGeom prst="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总问题：LLM 触达升级是否在抬高获客转化的同时推高借款人脆弱性与市场风险，监管与智慧投诉治理又能否纠偏？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15768" y="1152144"/>
            <a:ext cx="6766560" cy="457200"/>
          </a:xfrm>
          <a:prstGeom prst="round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X｜LLM 触达升级：电销外呼 IVR → LLM 大模型接入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15768" y="1682496"/>
            <a:ext cx="6766560" cy="420624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M｜转化：发起用信申请（意图）→ 成功用信（转化）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5768" y="2176272"/>
            <a:ext cx="6766560" cy="530352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Y₁｜机构内借款人金融脆弱性：复借·逾期(DPD30+)·额度使用率·借后多头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2734056"/>
            <a:ext cx="6766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i="1" b="0">
                <a:solidFill>
                  <a:srgbClr val="6B7682"/>
                </a:solidFill>
                <a:latin typeface="Microsoft YaHei"/>
              </a:rPr>
              <a:t>▼ 机构内风险在市场显化为投诉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944368"/>
            <a:ext cx="3246120" cy="493776"/>
          </a:xfrm>
          <a:prstGeom prst="roundRect">
            <a:avLst/>
          </a:prstGeom>
          <a:solidFill>
            <a:srgbClr val="C05A16"/>
          </a:solidFill>
          <a:ln w="12700">
            <a:solidFill>
              <a:srgbClr val="C0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真实风险暴露 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2944368"/>
            <a:ext cx="3337560" cy="493776"/>
          </a:xfrm>
          <a:prstGeom prst="roundRect">
            <a:avLst/>
          </a:prstGeom>
          <a:solidFill>
            <a:srgbClr val="6A3D9A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客户表达成本 ↓（投诉文本长度/规范性↑）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3529584"/>
            <a:ext cx="6766560" cy="566928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Y₂｜互联网消金高风险投诉 ↑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催收/逾期/征信/高息/诱导/信息骚扰；占全部投诉比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4123944"/>
            <a:ext cx="6766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i="1" b="0">
                <a:solidFill>
                  <a:srgbClr val="6B7682"/>
                </a:solidFill>
                <a:latin typeface="Microsoft YaHei"/>
              </a:rPr>
              <a:t>▼ 可观测风险成为治理对象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4334256"/>
            <a:ext cx="6766560" cy="457200"/>
          </a:xfrm>
          <a:prstGeom prst="roundRect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X₃｜2025 智慧315 / 监管治理冲击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4846320"/>
            <a:ext cx="6766560" cy="420624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M｜治理过程：回复率·解决率·响应时长·监管处罚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5768" y="5340096"/>
            <a:ext cx="6766560" cy="512064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Y₃｜治理结果：投诉总数↓·重复投诉↓·高风险占比↓·未解决↓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76272"/>
            <a:ext cx="13716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B03A2E"/>
                </a:solidFill>
                <a:latin typeface="Microsoft YaHei"/>
              </a:rPr>
              <a:t>Q1·产生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44368"/>
            <a:ext cx="13716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C05A16"/>
                </a:solidFill>
                <a:latin typeface="Microsoft YaHei"/>
              </a:rPr>
              <a:t>Q2·显化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334256"/>
            <a:ext cx="137160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2E7D32"/>
                </a:solidFill>
                <a:latin typeface="Microsoft YaHei"/>
              </a:rPr>
              <a:t>Q3·纠偏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1609344"/>
            <a:ext cx="0" cy="7315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103120"/>
            <a:ext cx="0" cy="7315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411980" y="2706624"/>
            <a:ext cx="1687068" cy="237744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2706624"/>
            <a:ext cx="1714500" cy="237744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11980" y="3438144"/>
            <a:ext cx="1412748" cy="9144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373368" y="3438144"/>
            <a:ext cx="1440180" cy="9144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4096512"/>
            <a:ext cx="0" cy="237744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9048" y="4791456"/>
            <a:ext cx="0" cy="54864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9048" y="5266944"/>
            <a:ext cx="0" cy="7315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28048" y="3813048"/>
            <a:ext cx="0" cy="1783080"/>
          </a:xfrm>
          <a:prstGeom prst="line">
            <a:avLst/>
          </a:prstGeom>
          <a:ln w="16510">
            <a:solidFill>
              <a:srgbClr val="2E7D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0" y="402336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i="1" b="0">
                <a:solidFill>
                  <a:srgbClr val="2E7D32"/>
                </a:solidFill>
                <a:latin typeface="Microsoft YaHei"/>
              </a:rPr>
              <a:t>纠偏闭环 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998464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结论与政策闭环：金融AI消费者保护 · 智能外呼合规 · 投诉治理 — 同一风险构念，三套数据三测互证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第一章 框架图（风险产生）  X →（中介M·转化）→ Y，调节W·控制Z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118872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1F3B5B"/>
                </a:solidFill>
                <a:latin typeface="Microsoft YaHei"/>
              </a:rPr>
              <a:t>自变量</a:t>
            </a:r>
          </a:p>
          <a:p>
            <a:pPr algn="ctr"/>
            <a:r>
              <a:rPr sz="1100" i="0" b="1">
                <a:solidFill>
                  <a:srgbClr val="1F3B5B"/>
                </a:solidFill>
                <a:latin typeface="Microsoft YaHe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24688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1B7F79"/>
                </a:solidFill>
                <a:latin typeface="Microsoft YaHei"/>
              </a:rPr>
              <a:t>中介</a:t>
            </a:r>
          </a:p>
          <a:p>
            <a:pPr algn="ctr"/>
            <a:r>
              <a:rPr sz="1100" i="0" b="1">
                <a:solidFill>
                  <a:srgbClr val="1B7F79"/>
                </a:solidFill>
                <a:latin typeface="Microsoft YaHei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17830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B03A2E"/>
                </a:solidFill>
                <a:latin typeface="Microsoft YaHei"/>
              </a:rPr>
              <a:t>因变量</a:t>
            </a:r>
          </a:p>
          <a:p>
            <a:pPr algn="ctr"/>
            <a:r>
              <a:rPr sz="1100" i="0" b="1">
                <a:solidFill>
                  <a:srgbClr val="B03A2E"/>
                </a:solidFill>
                <a:latin typeface="Microsoft YaHei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416052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6A3D9A"/>
                </a:solidFill>
                <a:latin typeface="Microsoft YaHei"/>
              </a:rPr>
              <a:t>调节</a:t>
            </a:r>
          </a:p>
          <a:p>
            <a:pPr algn="ctr"/>
            <a:r>
              <a:rPr sz="1100" i="0" b="1">
                <a:solidFill>
                  <a:srgbClr val="6A3D9A"/>
                </a:solidFill>
                <a:latin typeface="Microsoft YaHei"/>
              </a:rPr>
              <a:t>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051560"/>
            <a:ext cx="3931920" cy="777240"/>
          </a:xfrm>
          <a:prstGeom prst="round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X｜LLM 外呼接入·触达升级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剂量梯度：IVR → LLM-v1 → LLM-v2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2331720"/>
            <a:ext cx="3931920" cy="777240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M｜转化（中介，非落脚）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① 是否发起用信申请(意图)  ② 是否成功用信(转化)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417320"/>
            <a:ext cx="5394960" cy="960120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Y｜客户金融脆弱性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复借次数·逾期率(DPD30+)·额度使用率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借后下载其他借贷App(applist多头)·脆弱性指数</a:t>
            </a:r>
          </a:p>
        </p:txBody>
      </p:sp>
      <p:sp>
        <p:nvSpPr>
          <p:cNvPr id="10" name="Diamond 9"/>
          <p:cNvSpPr/>
          <p:nvPr/>
        </p:nvSpPr>
        <p:spPr>
          <a:xfrm>
            <a:off x="5074920" y="2395728"/>
            <a:ext cx="1234440" cy="658368"/>
          </a:xfrm>
          <a:prstGeom prst="diamond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外延 vs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内涵(H3)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4023360"/>
            <a:ext cx="3931920" cy="777240"/>
          </a:xfrm>
          <a:prstGeom prst="roundRect">
            <a:avLst/>
          </a:prstGeom>
          <a:solidFill>
            <a:srgbClr val="6A3D9A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调节 W（H4·异质）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IVR→LLM 智能化梯度（剂量响应）· 客户风险类型/征信分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828800"/>
            <a:ext cx="0" cy="50292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074920" y="2720340"/>
            <a:ext cx="548640" cy="457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309360" y="1988820"/>
            <a:ext cx="137160" cy="73609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1847088"/>
            <a:ext cx="37490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i="1" b="0">
                <a:solidFill>
                  <a:srgbClr val="6B7682"/>
                </a:solidFill>
                <a:latin typeface="Microsoft YaHei"/>
              </a:rPr>
              <a:t>更多人接触消金（外延边际）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657600" y="3127248"/>
            <a:ext cx="1417320" cy="896112"/>
          </a:xfrm>
          <a:prstGeom prst="line">
            <a:avLst/>
          </a:prstGeom>
          <a:ln w="17780">
            <a:solidFill>
              <a:srgbClr val="6A3D9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60" y="1481328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1F3B5B"/>
                </a:solidFill>
                <a:latin typeface="Microsoft YaHei"/>
              </a:rPr>
              <a:t>H1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2542032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B03A2E"/>
                </a:solidFill>
                <a:latin typeface="Microsoft YaHei"/>
              </a:rPr>
              <a:t>H2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85232" y="3090672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C87F0A"/>
                </a:solidFill>
                <a:latin typeface="Microsoft YaHei"/>
              </a:rPr>
              <a:t>H3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611880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6A3D9A"/>
                </a:solidFill>
                <a:latin typeface="Microsoft YaHei"/>
              </a:rPr>
              <a:t>H4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053328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控制 Z：征信分·历史多头·负债收入比·年龄·名单来源·活动类型·时段·地域　|　识别：以 LLM 接入日为外生时点的 Stacked RD-in-time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46520"/>
            <a:ext cx="201168" cy="146304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自变量X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3936" y="6446520"/>
            <a:ext cx="201168" cy="146304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中介M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6446520"/>
            <a:ext cx="201168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1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因变量Y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26864" y="6446520"/>
            <a:ext cx="201168" cy="146304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调节W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0176" y="6446520"/>
            <a:ext cx="201168" cy="146304"/>
          </a:xfrm>
          <a:prstGeom prst="rect">
            <a:avLst/>
          </a:prstGeom>
          <a:solidFill>
            <a:srgbClr val="C87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分解H3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第一章 技术路线图（风险产生）  问题→数据→识别→分解→检验→结论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731520"/>
            <a:ext cx="5760720" cy="493776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研究问题：LLM 接入是否经转化把更多更脆弱的人卷入并推高其脆弱性？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89888"/>
            <a:ext cx="576072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数据：全量AI拨打 + 每通模型版本 + 用信表 + applist多头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011680"/>
            <a:ext cx="5760720" cy="45720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反推 LLM 接入日 g  +  采用曲线诊断（陡跳 / 灰度爬坡）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24912"/>
            <a:ext cx="4206240" cy="512064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陡跳 → Stacked RD-in-time（主模型）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724912"/>
            <a:ext cx="4206240" cy="512064"/>
          </a:xfrm>
          <a:prstGeom prst="roundRect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爬坡 → Fuzzy RD / 剂量交错DiD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419856"/>
            <a:ext cx="5760720" cy="47548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估计：中介 M＝转化(意图/用信)  与  Y＝客户金融脆弱性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059936"/>
            <a:ext cx="5760720" cy="512064"/>
          </a:xfrm>
          <a:prstGeom prst="roundRect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分解：外延(经转化卷入更脆弱人群) vs 内涵(同类恶化)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因果中介 / DFL重加权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773168"/>
            <a:ext cx="5760720" cy="457200"/>
          </a:xfrm>
          <a:prstGeom prst="roundRect">
            <a:avLst/>
          </a:prstGeom>
          <a:solidFill>
            <a:srgbClr val="6B7682"/>
          </a:solidFill>
          <a:ln w="12700">
            <a:solidFill>
              <a:srgbClr val="6B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识别检验：密度连续 · 安慰剂日 · donut-RD · 机制三角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225296"/>
            <a:ext cx="0" cy="16459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1847088"/>
            <a:ext cx="0" cy="16459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74720" y="2468880"/>
            <a:ext cx="2606040" cy="25603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468880"/>
            <a:ext cx="2606040" cy="25603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74720" y="3236976"/>
            <a:ext cx="233172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355080" y="3236976"/>
            <a:ext cx="233172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3895344"/>
            <a:ext cx="0" cy="16459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4572000"/>
            <a:ext cx="0" cy="201168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4320" y="6053328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结论：LLM 接入经转化推高借款人脆弱性，且“被更多卷入”（外延）为主驱动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第二章 框架图（风险显化）  X → 双中介 → Y，核心识别 H6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96012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1F3B5B"/>
                </a:solidFill>
                <a:latin typeface="Microsoft YaHei"/>
              </a:rPr>
              <a:t>自变量</a:t>
            </a:r>
          </a:p>
          <a:p>
            <a:pPr algn="ctr"/>
            <a:r>
              <a:rPr sz="1100" i="0" b="1">
                <a:solidFill>
                  <a:srgbClr val="1F3B5B"/>
                </a:solidFill>
                <a:latin typeface="Microsoft YaHe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26974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6A3D9A"/>
                </a:solidFill>
                <a:latin typeface="Microsoft YaHei"/>
              </a:rPr>
              <a:t>双中介</a:t>
            </a:r>
          </a:p>
          <a:p>
            <a:pPr algn="ctr"/>
            <a:r>
              <a:rPr sz="1100" i="0" b="1">
                <a:solidFill>
                  <a:srgbClr val="6A3D9A"/>
                </a:solidFill>
                <a:latin typeface="Microsoft YaHei"/>
              </a:rPr>
              <a:t>（命门）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17830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B03A2E"/>
                </a:solidFill>
                <a:latin typeface="Microsoft YaHei"/>
              </a:rPr>
              <a:t>因变量</a:t>
            </a:r>
          </a:p>
          <a:p>
            <a:pPr algn="ctr"/>
            <a:r>
              <a:rPr sz="1100" i="0" b="1">
                <a:solidFill>
                  <a:srgbClr val="B03A2E"/>
                </a:solidFill>
                <a:latin typeface="Microsoft YaHei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45262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6A3D9A"/>
                </a:solidFill>
                <a:latin typeface="Microsoft YaHei"/>
              </a:rPr>
              <a:t>调节</a:t>
            </a:r>
          </a:p>
          <a:p>
            <a:pPr algn="ctr"/>
            <a:r>
              <a:rPr sz="1100" i="0" b="1">
                <a:solidFill>
                  <a:srgbClr val="6A3D9A"/>
                </a:solidFill>
                <a:latin typeface="Microsoft YaHei"/>
              </a:rPr>
              <a:t>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960120"/>
            <a:ext cx="3840480" cy="566928"/>
          </a:xfrm>
          <a:prstGeom prst="round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X｜LLM 上线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（机构级错时上线）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2240280"/>
            <a:ext cx="3840480" cy="603504"/>
          </a:xfrm>
          <a:prstGeom prst="roundRect">
            <a:avLst/>
          </a:prstGeom>
          <a:solidFill>
            <a:srgbClr val="C05A16"/>
          </a:solidFill>
          <a:ln w="12700">
            <a:solidFill>
              <a:srgbClr val="C0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真实风险暴露 ↑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诱导借款·高息·暴力催收等真实损害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2971800"/>
            <a:ext cx="3840480" cy="603504"/>
          </a:xfrm>
          <a:prstGeom prst="roundRect">
            <a:avLst/>
          </a:prstGeom>
          <a:solidFill>
            <a:srgbClr val="6A3D9A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客户表达成本 ↓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LLM 降低投诉撰写门槛：文本长度/规范性/要素完备度↑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5349240" cy="1188720"/>
          </a:xfrm>
          <a:prstGeom prst="roundRect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Y｜互联网消金高风险投诉 ↑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催收·逾期·征信·高息/隐形收费·诱导借款·个人信息骚扰（数量）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互联网消金投诉数 / 全部投诉数（占比）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4160520"/>
            <a:ext cx="3840480" cy="603504"/>
          </a:xfrm>
          <a:prstGeom prst="roundRect">
            <a:avLst/>
          </a:prstGeom>
          <a:solidFill>
            <a:srgbClr val="6A3D9A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调节 W｜是否持牌机构 · 上线前机构高风险投诉占比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1527048"/>
            <a:ext cx="0" cy="658368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32120" y="2212848"/>
            <a:ext cx="960120" cy="329184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532120" y="2542032"/>
            <a:ext cx="960120" cy="73152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2843784"/>
            <a:ext cx="0" cy="128016"/>
          </a:xfrm>
          <a:prstGeom prst="line">
            <a:avLst/>
          </a:prstGeom>
          <a:ln w="15240">
            <a:solidFill>
              <a:srgbClr val="6A3D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11880" y="2761488"/>
            <a:ext cx="2880360" cy="1399032"/>
          </a:xfrm>
          <a:prstGeom prst="line">
            <a:avLst/>
          </a:prstGeom>
          <a:ln w="16510">
            <a:solidFill>
              <a:srgbClr val="6A3D9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50992" y="960120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B03A2E"/>
                </a:solidFill>
                <a:latin typeface="Microsoft YaHei"/>
              </a:rPr>
              <a:t>H5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2542032"/>
            <a:ext cx="14173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C87F0A"/>
                </a:solidFill>
                <a:latin typeface="Microsoft YaHei"/>
              </a:rPr>
              <a:t>H6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90779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i="1" b="0">
                <a:solidFill>
                  <a:srgbClr val="C87F0A"/>
                </a:solidFill>
                <a:latin typeface="Microsoft YaHei"/>
              </a:rPr>
              <a:t>核心识别：分解二者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50992" y="4160520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6A3D9A"/>
                </a:solidFill>
                <a:latin typeface="Microsoft YaHei"/>
              </a:rPr>
              <a:t>H7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053328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识别：机构级错时 DiD / 事件研究　|　核心：以投诉文本特征为表达成本代理，分离“净真实风险”与“表达便利虚增”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46520"/>
            <a:ext cx="201168" cy="146304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自变量X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3936" y="6446520"/>
            <a:ext cx="201168" cy="146304"/>
          </a:xfrm>
          <a:prstGeom prst="rect">
            <a:avLst/>
          </a:prstGeom>
          <a:solidFill>
            <a:srgbClr val="C05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真实风险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3552" y="6446520"/>
            <a:ext cx="201168" cy="146304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表达成本/调节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6446520"/>
            <a:ext cx="201168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9824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因变量Y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11696" y="6446520"/>
            <a:ext cx="201168" cy="146304"/>
          </a:xfrm>
          <a:prstGeom prst="rect">
            <a:avLst/>
          </a:prstGeom>
          <a:solidFill>
            <a:srgbClr val="C87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分解H6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第二章 技术路线图（风险显化）  问题→数据→识别→真实vs表达分解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749808"/>
            <a:ext cx="6675120" cy="566928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研究问题：LLM 上线是否放大互金消金风险？投诉上升中真实风险 vs 表达成本各几何？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481328"/>
            <a:ext cx="6675120" cy="530352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数据：黑猫投诉/12378（备选裁判文书）+ 机构LLM上线时点 + 投诉文本特征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194560"/>
            <a:ext cx="6675120" cy="530352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主识别：机构级错时 DiD / 事件研究（稳健估计量 + 前趋势检验）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907792"/>
            <a:ext cx="6675120" cy="676656"/>
          </a:xfrm>
          <a:prstGeom prst="roundRect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核心分解（H6）：文本特征构造表达成本代理 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 = π·Post + φ·E + ψ·(Post×E)；控制 E 后 π ＝ 净真实风险显化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767328"/>
            <a:ext cx="6675120" cy="530352"/>
          </a:xfrm>
          <a:prstGeom prst="roundRect">
            <a:avLst/>
          </a:prstGeom>
          <a:solidFill>
            <a:srgbClr val="6B7682"/>
          </a:solidFill>
          <a:ln w="12700">
            <a:solidFill>
              <a:srgbClr val="6B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安慰剂：非消金投诉作对照（表达成本同步、真实风险不应同步）+ 可模板化子类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480560"/>
            <a:ext cx="6675120" cy="512064"/>
          </a:xfrm>
          <a:prstGeom prst="roundRect">
            <a:avLst/>
          </a:prstGeom>
          <a:solidFill>
            <a:srgbClr val="C05A16"/>
          </a:solidFill>
          <a:ln w="12700">
            <a:solidFill>
              <a:srgbClr val="C0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结论：净真实风险显化幅度 与 表达便利虚增 的分离估计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316736"/>
            <a:ext cx="0" cy="16459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011680"/>
            <a:ext cx="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724912"/>
            <a:ext cx="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3584448"/>
            <a:ext cx="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4297680"/>
            <a:ext cx="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6053328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要点：解决“LLM 也让人更会写投诉”的长期混淆——投诉量↑不等于真实风险↑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第三章 框架图（风险纠偏）  准实验 · X →（治理过程M）→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9144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C87F0A"/>
                </a:solidFill>
                <a:latin typeface="Microsoft YaHei"/>
              </a:rPr>
              <a:t>识别</a:t>
            </a:r>
          </a:p>
          <a:p>
            <a:pPr algn="ctr"/>
            <a:r>
              <a:rPr sz="1100" i="0" b="1">
                <a:solidFill>
                  <a:srgbClr val="C87F0A"/>
                </a:solidFill>
                <a:latin typeface="Microsoft YaHei"/>
              </a:rPr>
              <a:t>准实验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22402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1F3B5B"/>
                </a:solidFill>
                <a:latin typeface="Microsoft YaHei"/>
              </a:rPr>
              <a:t>自变量</a:t>
            </a:r>
          </a:p>
          <a:p>
            <a:pPr algn="ctr"/>
            <a:r>
              <a:rPr sz="1100" i="0" b="1">
                <a:solidFill>
                  <a:srgbClr val="1F3B5B"/>
                </a:solidFill>
                <a:latin typeface="Microsoft YaHei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33832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1B7F79"/>
                </a:solidFill>
                <a:latin typeface="Microsoft YaHei"/>
              </a:rPr>
              <a:t>中介</a:t>
            </a:r>
          </a:p>
          <a:p>
            <a:pPr algn="ctr"/>
            <a:r>
              <a:rPr sz="1100" i="0" b="1">
                <a:solidFill>
                  <a:srgbClr val="1B7F79"/>
                </a:solidFill>
                <a:latin typeface="Microsoft YaHei"/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45262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i="0" b="1">
                <a:solidFill>
                  <a:srgbClr val="2E7D32"/>
                </a:solidFill>
                <a:latin typeface="Microsoft YaHei"/>
              </a:rPr>
              <a:t>因变量</a:t>
            </a:r>
          </a:p>
          <a:p>
            <a:pPr algn="ctr"/>
            <a:r>
              <a:rPr sz="1100" i="0" b="1">
                <a:solidFill>
                  <a:srgbClr val="2E7D32"/>
                </a:solidFill>
                <a:latin typeface="Microsoft YaHei"/>
              </a:rPr>
              <a:t>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868680"/>
            <a:ext cx="8778240" cy="512064"/>
          </a:xfrm>
          <a:prstGeom prst="roundRect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准实验：处理组 持牌 vs 非持牌（或上线前高风险占比 高 vs 低）× 前后  DiD / 三重差分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2148840"/>
            <a:ext cx="8778240" cy="512064"/>
          </a:xfrm>
          <a:prstGeom prst="round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X｜2025 智慧315 / 监管治理冲击（Post）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3291840"/>
            <a:ext cx="8778240" cy="512064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M｜治理过程：投诉回复率↑ · 解决率↑ · 平均响应时长↓ · 是否伴随监管处罚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4434840"/>
            <a:ext cx="8778240" cy="56692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Y｜治理结果：投诉总数↓ · 重复投诉↓ · 高风险投诉占比↓ · 未解决投诉↓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80760" y="1380744"/>
            <a:ext cx="0" cy="768096"/>
          </a:xfrm>
          <a:prstGeom prst="line">
            <a:avLst/>
          </a:prstGeom>
          <a:ln w="16510">
            <a:solidFill>
              <a:srgbClr val="C87F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660904"/>
            <a:ext cx="0" cy="630936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3803904"/>
            <a:ext cx="0" cy="630936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52160" y="2788920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1B7F79"/>
                </a:solidFill>
                <a:latin typeface="Microsoft YaHei"/>
              </a:rPr>
              <a:t>H9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931920"/>
            <a:ext cx="50292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1000" b="1">
                <a:solidFill>
                  <a:srgbClr val="2E7D32"/>
                </a:solidFill>
                <a:latin typeface="Microsoft YaHei"/>
              </a:rPr>
              <a:t>H8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053328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稳健：PSM-DID · 替代处理组定义 · 事件研究前趋势　|　局限：2025 冲击数据窗口偏薄，以高频月度弥补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446520"/>
            <a:ext cx="201168" cy="146304"/>
          </a:xfrm>
          <a:prstGeom prst="rect">
            <a:avLst/>
          </a:prstGeom>
          <a:solidFill>
            <a:srgbClr val="C87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识别/冲击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39" y="6446520"/>
            <a:ext cx="201168" cy="146304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7983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自变量X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9856" y="6446520"/>
            <a:ext cx="201168" cy="146304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中介M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73168" y="6446520"/>
            <a:ext cx="201168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6391656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i="0" b="0">
                <a:solidFill>
                  <a:srgbClr val="202833"/>
                </a:solidFill>
                <a:latin typeface="Microsoft YaHei"/>
              </a:rPr>
              <a:t>因变量Y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第三章 技术路线图（风险纠偏）  问题→数据→DiD→中介→稳健→政策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786384"/>
            <a:ext cx="6309360" cy="566928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研究问题：监管与智慧投诉治理能否、经由何种过程缓解 LLM 带来的消金风险？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517904"/>
            <a:ext cx="6309360" cy="512064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数据：第三方投诉 + 监管处罚 + 2025智慧315治理时点（机构×月面板）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212848"/>
            <a:ext cx="6309360" cy="512064"/>
          </a:xfrm>
          <a:prstGeom prst="roundRect">
            <a:avLst/>
          </a:prstGeom>
          <a:solidFill>
            <a:srgbClr val="1B7F79"/>
          </a:solidFill>
          <a:ln w="1270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主识别：处理组 vs 对照组 × 前后  DiD / 三重差分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907792"/>
            <a:ext cx="6309360" cy="566928"/>
          </a:xfrm>
          <a:prstGeom prst="roundRect">
            <a:avLst/>
          </a:prstGeom>
          <a:solidFill>
            <a:srgbClr val="C87F0A"/>
          </a:solidFill>
          <a:ln w="12700">
            <a:solidFill>
              <a:srgbClr val="C87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治理过程中介检验：回复率/解决率/响应时长/处罚 是否为纠偏路径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（对照“投诉自然回落”安慰剂）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749039"/>
            <a:ext cx="6309360" cy="512064"/>
          </a:xfrm>
          <a:prstGeom prst="roundRect">
            <a:avLst/>
          </a:prstGeom>
          <a:solidFill>
            <a:srgbClr val="6B7682"/>
          </a:solidFill>
          <a:ln w="12700">
            <a:solidFill>
              <a:srgbClr val="6B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稳健：PSM-DID · 替代处理组 · 事件研究前趋势 ·（窗口偏薄→高频月度补）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443984"/>
            <a:ext cx="6309360" cy="530352"/>
          </a:xfrm>
          <a:prstGeom prst="roundRect">
            <a:avLst/>
          </a:prstGeom>
          <a:solidFill>
            <a:srgbClr val="C05A16"/>
          </a:solidFill>
          <a:ln w="12700">
            <a:solidFill>
              <a:srgbClr val="C0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结论与政策闭环：金融AI消保 · 智能外呼合规 · 投诉治理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353312"/>
            <a:ext cx="0" cy="164592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029968"/>
            <a:ext cx="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724912"/>
            <a:ext cx="0" cy="182880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3474720"/>
            <a:ext cx="0" cy="274319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4261103"/>
            <a:ext cx="0" cy="182881"/>
          </a:xfrm>
          <a:prstGeom prst="line">
            <a:avLst/>
          </a:prstGeom>
          <a:ln w="19050">
            <a:solidFill>
              <a:srgbClr val="5A6B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6053328"/>
            <a:ext cx="11643055" cy="384048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三章闭环：产生（机构内）→ 显化（市场投诉，真实/表达两分）→ 纠偏（治理冲击经治理过程回拉）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