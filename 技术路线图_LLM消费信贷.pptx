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X 是 LLM 接入这一可识别技术冲击；2. 双机制：识别↑、劝说↑；3. 落脚双刃而非转化率；4. 关键：脆弱性升来自组成 vs 行为；5. 微观/中观/宏观三套数据各识别一遍，收口政策。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总框架·模型技术路线图  X → 双机制 → 双刃Y → 三层识别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01744" y="786384"/>
            <a:ext cx="4389120" cy="512064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X｜LLM 大模型接入·数字信贷触达升级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55824" y="1517904"/>
            <a:ext cx="3291840" cy="47548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机制① 意向识别能力 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44944" y="1517904"/>
            <a:ext cx="3291840" cy="47548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机制② 个性化劝说力 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286000"/>
            <a:ext cx="3200400" cy="676656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Y-A 信贷可得性 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更多人·更易借到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9815" y="2286000"/>
            <a:ext cx="3200400" cy="676656"/>
          </a:xfrm>
          <a:prstGeom prst="roundRect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Y-B 金融脆弱性 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重复借贷·多头·逾期违约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93392"/>
            <a:ext cx="3047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i="1" b="1">
                <a:solidFill>
                  <a:srgbClr val="8A4B08"/>
                </a:solidFill>
                <a:latin typeface="Microsoft YaHei"/>
              </a:rPr>
              <a:t>—— 双刃张力 ——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11880" y="2624328"/>
            <a:ext cx="4967935" cy="0"/>
          </a:xfrm>
          <a:prstGeom prst="line">
            <a:avLst/>
          </a:prstGeom>
          <a:ln w="19050">
            <a:solidFill>
              <a:srgbClr val="8A4B0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5227624" y="3163824"/>
            <a:ext cx="1737360" cy="868680"/>
          </a:xfrm>
          <a:prstGeom prst="diamond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脆弱性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来源分解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4224528"/>
            <a:ext cx="2651760" cy="530352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组成·外延</a:t>
            </a:r>
          </a:p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更脆弱人群被卷入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4224528"/>
            <a:ext cx="2651760" cy="530352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行为·内涵</a:t>
            </a:r>
          </a:p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同类人借贷恶化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4937760"/>
            <a:ext cx="3611880" cy="676656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第一章·微观 马消客户级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Stacked RD-in-time + DFL分解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937760"/>
            <a:ext cx="3611880" cy="676656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第二章·中观 裁判文书+扩散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双向FE + Bartik IV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4937760"/>
            <a:ext cx="3611880" cy="676656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第三章·宏观 CHFS/CFPS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监管DDD + 2SLS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901744" y="1298448"/>
            <a:ext cx="2194560" cy="21945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6304" y="1298448"/>
            <a:ext cx="2194560" cy="21945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011680" y="1993392"/>
            <a:ext cx="1890064" cy="29260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0864" y="1993392"/>
            <a:ext cx="1889151" cy="29260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01744" y="1993392"/>
            <a:ext cx="7649871" cy="292608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40080" y="1993392"/>
            <a:ext cx="7650784" cy="292608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6304" y="2962656"/>
            <a:ext cx="4083711" cy="20116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572000" y="4032504"/>
            <a:ext cx="1524304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6304" y="4032504"/>
            <a:ext cx="1523391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915668" y="2962656"/>
            <a:ext cx="96012" cy="197510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2281428" y="4754880"/>
            <a:ext cx="2290572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647188" y="4754880"/>
            <a:ext cx="4972507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087368" y="5276088"/>
            <a:ext cx="201168" cy="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0416" y="5276088"/>
            <a:ext cx="201167" cy="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结论与政策：智能信贷触达让更多人借到钱——是否也让更多人陷进去？  金融AI消费者保护 · 共债治理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第一章 框架图  X →（中介机制M）→ Y，调节W·控制Z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" y="102412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自变量</a:t>
            </a:r>
          </a:p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233172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中介机制</a:t>
            </a:r>
          </a:p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6118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B03A2E"/>
                </a:solidFill>
                <a:latin typeface="Microsoft YaHei"/>
              </a:rPr>
              <a:t>因变量</a:t>
            </a:r>
          </a:p>
          <a:p>
            <a:pPr algn="ctr"/>
            <a:r>
              <a:rPr sz="1100" i="0" b="1">
                <a:solidFill>
                  <a:srgbClr val="B03A2E"/>
                </a:solidFill>
                <a:latin typeface="Microsoft YaHei"/>
              </a:rPr>
              <a:t>Y（双刃）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914400"/>
            <a:ext cx="4023360" cy="713232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X｜LLM大模型接入·数字信贷触达升级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剂量梯度：IVR → LLM-v1 → LLM-v2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2212848"/>
            <a:ext cx="402336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M₁ 意向识别能力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798064"/>
            <a:ext cx="402336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M₂ 个性化劝说力 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5394960" cy="713232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Y-A 信贷可得性 ↑（H1）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借款概率·获批·放款规模·授信额度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3246120"/>
            <a:ext cx="5394960" cy="713232"/>
          </a:xfrm>
          <a:prstGeom prst="roundRect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Y-B 金融脆弱性 ↑（H2）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重复借贷·applist多头·DPD30+/违约·脆弱指数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560320"/>
            <a:ext cx="5394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1" b="1">
                <a:solidFill>
                  <a:srgbClr val="8A4B08"/>
                </a:solidFill>
                <a:latin typeface="Microsoft YaHei"/>
              </a:rPr>
              <a:t>◄—— 双刃张力 ——►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03320" y="1627632"/>
            <a:ext cx="0" cy="58521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03320" y="2724912"/>
            <a:ext cx="0" cy="73152"/>
          </a:xfrm>
          <a:prstGeom prst="line">
            <a:avLst/>
          </a:prstGeom>
          <a:ln w="19050">
            <a:solidFill>
              <a:srgbClr val="5A6B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715000" y="2139696"/>
            <a:ext cx="731520" cy="91440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15000" y="3054096"/>
            <a:ext cx="731520" cy="54864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715000" y="1993391"/>
            <a:ext cx="731520" cy="475489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6446520" y="4160520"/>
            <a:ext cx="1554480" cy="777240"/>
          </a:xfrm>
          <a:prstGeom prst="diamond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脆弱性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来源（H3）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133087"/>
            <a:ext cx="1737360" cy="384048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202833"/>
                </a:solidFill>
                <a:latin typeface="Microsoft YaHei"/>
              </a:rPr>
              <a:t>组成·外延 更脆弱人群被卷入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572000"/>
            <a:ext cx="1737360" cy="384048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202833"/>
                </a:solidFill>
                <a:latin typeface="Microsoft YaHei"/>
              </a:rPr>
              <a:t>行为·内涵 同类人借贷恶化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223760" y="3959352"/>
            <a:ext cx="1920240" cy="20116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001000" y="4325111"/>
            <a:ext cx="228600" cy="224029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01000" y="4549140"/>
            <a:ext cx="228600" cy="21488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691640" y="5029200"/>
            <a:ext cx="4023360" cy="713232"/>
          </a:xfrm>
          <a:prstGeom prst="roundRect">
            <a:avLst/>
          </a:prstGeom>
          <a:solidFill>
            <a:srgbClr val="6A3D9A"/>
          </a:solidFill>
          <a:ln w="1270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调节变量 W（H4·异质性）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IVR→LLM 智能化梯度（剂量响应）｜客户风险类型·征信分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703320" y="3328416"/>
            <a:ext cx="0" cy="1700784"/>
          </a:xfrm>
          <a:prstGeom prst="line">
            <a:avLst/>
          </a:prstGeom>
          <a:ln w="16510">
            <a:solidFill>
              <a:srgbClr val="6A3D9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控制 Z：征信分·历史多头·负债收入比·年龄·名单来源·活动类型·时段·地域　|　识别：以升级日为外生时点的 Stacked RD-in-time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446520"/>
            <a:ext cx="201168" cy="1463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自变量X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73936" y="6446520"/>
            <a:ext cx="201168" cy="146304"/>
          </a:xfrm>
          <a:prstGeom prst="rect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1168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中介机制M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9856" y="6446520"/>
            <a:ext cx="201168" cy="14630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因变量Y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19472" y="6446520"/>
            <a:ext cx="201168" cy="146304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5721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调节W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2784" y="6446520"/>
            <a:ext cx="201168" cy="146304"/>
          </a:xfrm>
          <a:prstGeom prst="rect">
            <a:avLst/>
          </a:prstGeom>
          <a:solidFill>
            <a:srgbClr val="C87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分解/识别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第一章 技术路线图  问题 → 数据 → 识别 → 检验 → 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5848" y="777240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研究问题：LLM接入是否同时抬高信贷可得性与金融脆弱性？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5848" y="1481328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数据：全量AI拨打 + 每通模型版本 + 用信表 + applist多头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2185416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反推 LLM 接入日 g  +  采用曲线诊断（陡跳 / 灰度爬坡）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926080"/>
            <a:ext cx="4206240" cy="56692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陡跳 → Stacked RD-in-time（主模型）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926080"/>
            <a:ext cx="4206240" cy="566928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爬坡 → Fuzzy RD / 剂量交错DiD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3703320"/>
            <a:ext cx="5486400" cy="512064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估计 双结果：Y-A 信贷可得性  &amp;  Y-B 金融脆弱性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4407408"/>
            <a:ext cx="5486400" cy="512064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DFL 重加权分解：组成·外延  vs  行为·内涵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5111496"/>
            <a:ext cx="5486400" cy="512064"/>
          </a:xfrm>
          <a:prstGeom prst="roundRect">
            <a:avLst/>
          </a:prstGeom>
          <a:solidFill>
            <a:srgbClr val="6B7682"/>
          </a:solidFill>
          <a:ln w="12700">
            <a:solidFill>
              <a:srgbClr val="6B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识别检验：密度连续 · 安慰剂升级日 · donut-RD · 机制三角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9048" y="1289304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9048" y="1993392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66160" y="2697480"/>
            <a:ext cx="2532888" cy="22860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2697480"/>
            <a:ext cx="2496312" cy="22860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566160" y="3493008"/>
            <a:ext cx="2258568" cy="21031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373368" y="3493008"/>
            <a:ext cx="2221992" cy="21031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9048" y="4215384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9048" y="4919472"/>
            <a:ext cx="0" cy="19202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结论：信贷可得性与金融脆弱性并存（双刃），并判定脆弱性主驱动＝组成 抑或 行为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第二章 框架图  扩散X →（机制M）→ 区域过度负债Y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" y="96012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C87F0A"/>
                </a:solidFill>
                <a:latin typeface="Microsoft YaHei"/>
              </a:rPr>
              <a:t>识别</a:t>
            </a:r>
          </a:p>
          <a:p>
            <a:pPr algn="ctr"/>
            <a:r>
              <a:rPr sz="1100" i="0" b="1">
                <a:solidFill>
                  <a:srgbClr val="C87F0A"/>
                </a:solidFill>
                <a:latin typeface="Microsoft YaHei"/>
              </a:rPr>
              <a:t>IV/冲击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22402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自变量</a:t>
            </a:r>
          </a:p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3832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中介机制</a:t>
            </a:r>
          </a:p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52628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因变量</a:t>
            </a:r>
          </a:p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868680"/>
            <a:ext cx="8778240" cy="512064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识别：Bartik 移动份额IV  /  2017现金贷·2020网络小贷监管冲击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148840"/>
            <a:ext cx="8778240" cy="512064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X｜区域智能外呼·数字营销扩散度（招聘大数据构造 / 数字普惠信贷子项）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3291840"/>
            <a:ext cx="877824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M｜获客技术扩散 → 边际·脆弱客群被开发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4434840"/>
            <a:ext cx="877824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Y｜区域金融借款/民间借贷纠纷（人口标准化）· 区域过度负债 ↑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6080760" y="1380744"/>
            <a:ext cx="0" cy="768096"/>
          </a:xfrm>
          <a:prstGeom prst="line">
            <a:avLst/>
          </a:prstGeom>
          <a:ln w="16510">
            <a:solidFill>
              <a:srgbClr val="C87F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2660904"/>
            <a:ext cx="0" cy="6309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3803904"/>
            <a:ext cx="0" cy="6309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控制 Z：人均GDP·人口·产业结构·传统金融密度　|　单元：城市(或省)×年面板，双向固定效应 μ_r + λ_t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6446520"/>
            <a:ext cx="201168" cy="146304"/>
          </a:xfrm>
          <a:prstGeom prst="rect">
            <a:avLst/>
          </a:prstGeom>
          <a:solidFill>
            <a:srgbClr val="C87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识别IV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73936" y="6446520"/>
            <a:ext cx="201168" cy="1463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自变量X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3552" y="6446520"/>
            <a:ext cx="201168" cy="146304"/>
          </a:xfrm>
          <a:prstGeom prst="rect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1129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中介机制M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19472" y="6446520"/>
            <a:ext cx="201168" cy="146304"/>
          </a:xfrm>
          <a:prstGeom prst="rect">
            <a:avLst/>
          </a:prstGeom>
          <a:solidFill>
            <a:srgbClr val="C05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因变量Y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第二章 技术路线图  问题 → 数据 → 识别 → 备择 → 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5848" y="960120"/>
            <a:ext cx="5486400" cy="566928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研究问题：智能外呼扩散是否伴随区域过度负债上升？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5848" y="1874519"/>
            <a:ext cx="5486400" cy="6400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数据：裁判文书面板 + 招聘数据构造扩散代理 + 数字普惠指数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2862072"/>
            <a:ext cx="5486400" cy="566928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基准：双向固定效应  +  Bartik 移动份额 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5848" y="3703320"/>
            <a:ext cx="5486400" cy="640080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备择识别：2017/2020 监管冲击 DiD/DDD  +  事件研究前趋势检验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4690872"/>
            <a:ext cx="548640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结论：中观扩散 → 区域过度负债 的因果证据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9048" y="1527048"/>
            <a:ext cx="0" cy="347471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9048" y="2514599"/>
            <a:ext cx="0" cy="347473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3429000"/>
            <a:ext cx="0" cy="27432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4343400"/>
            <a:ext cx="0" cy="34747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工具变量有效性报告：Goldsmith-Pinkham-Sorkin-Swift / Borusyak-Hull-Jaravel 检验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第三章 框架图  数字金融/AI信贷X →（家庭传导M）→ 脆弱性Y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" y="114300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自变量</a:t>
            </a:r>
          </a:p>
          <a:p>
            <a:pPr algn="ctr"/>
            <a:r>
              <a:rPr sz="1100" i="0" b="1">
                <a:solidFill>
                  <a:srgbClr val="1F3B5B"/>
                </a:solidFill>
                <a:latin typeface="Microsoft YaHei"/>
              </a:rPr>
              <a:t>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" y="242316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中介机制</a:t>
            </a:r>
          </a:p>
          <a:p>
            <a:pPr algn="ctr"/>
            <a:r>
              <a:rPr sz="1100" i="0" b="1">
                <a:solidFill>
                  <a:srgbClr val="1B7F79"/>
                </a:solidFill>
                <a:latin typeface="Microsoft YaHei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" y="356616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因变量</a:t>
            </a:r>
          </a:p>
          <a:p>
            <a:pPr algn="ctr"/>
            <a:r>
              <a:rPr sz="1100" i="0" b="1">
                <a:solidFill>
                  <a:srgbClr val="C05A16"/>
                </a:solidFill>
                <a:latin typeface="Microsoft YaHei"/>
              </a:rPr>
              <a:t>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709160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i="0" b="1">
                <a:solidFill>
                  <a:srgbClr val="6A3D9A"/>
                </a:solidFill>
                <a:latin typeface="Microsoft YaHei"/>
              </a:rPr>
              <a:t>调节</a:t>
            </a:r>
          </a:p>
          <a:p>
            <a:pPr algn="ctr"/>
            <a:r>
              <a:rPr sz="1100" i="0" b="1">
                <a:solidFill>
                  <a:srgbClr val="6A3D9A"/>
                </a:solidFill>
                <a:latin typeface="Microsoft YaHei"/>
              </a:rPr>
              <a:t>W·异质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1640" y="1051560"/>
            <a:ext cx="8778240" cy="566928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X｜数字金融·AI信贷暴露  +  2017/2020 监管冲击（准实验）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331720"/>
            <a:ext cx="877824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M｜信贷可得 与 劝说 在家庭层的传导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3474720"/>
            <a:ext cx="877824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Y｜负债收入比·偿债比·逾期·无法应急筹款·是否多头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4617720"/>
            <a:ext cx="8778240" cy="512064"/>
          </a:xfrm>
          <a:prstGeom prst="roundRect">
            <a:avLst/>
          </a:prstGeom>
          <a:solidFill>
            <a:srgbClr val="6A3D9A"/>
          </a:solidFill>
          <a:ln w="1270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调节 W·异质性：低收入 / 年轻 / 已多头 组效应更强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1618488"/>
            <a:ext cx="0" cy="713232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2843784"/>
            <a:ext cx="0" cy="6309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80760" y="4041648"/>
            <a:ext cx="0" cy="576072"/>
          </a:xfrm>
          <a:prstGeom prst="line">
            <a:avLst/>
          </a:prstGeom>
          <a:ln w="16510">
            <a:solidFill>
              <a:srgbClr val="6A3D9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识别：高/低暴露区 × 前后 三重差分(DDD)　|　稳健：数字普惠指数连续处理 2SLS（到杭州距离/历史银行网点）+ PSM-DID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6446520"/>
            <a:ext cx="201168" cy="1463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自变量X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73936" y="6446520"/>
            <a:ext cx="201168" cy="146304"/>
          </a:xfrm>
          <a:prstGeom prst="rect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中介机制M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6446520"/>
            <a:ext cx="201168" cy="146304"/>
          </a:xfrm>
          <a:prstGeom prst="rect">
            <a:avLst/>
          </a:prstGeom>
          <a:solidFill>
            <a:srgbClr val="C05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因变量Y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19472" y="6446520"/>
            <a:ext cx="201168" cy="146304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6391656"/>
            <a:ext cx="1737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i="0" b="0">
                <a:solidFill>
                  <a:srgbClr val="202833"/>
                </a:solidFill>
                <a:latin typeface="Microsoft YaHei"/>
              </a:rPr>
              <a:t>调节W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3504"/>
          </a:xfrm>
          <a:prstGeom prst="rect">
            <a:avLst/>
          </a:prstGeom>
          <a:solidFill>
            <a:srgbClr val="1F3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Microsoft YaHei"/>
              </a:rPr>
              <a:t>第三章 技术路线图  问题 → 数据 → 主识别 → 稳健 → 异质 → 政策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5848" y="822960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研究问题：家庭金融脆弱性后果与监管含义为何？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5848" y="1517904"/>
            <a:ext cx="5486400" cy="512064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数据：CHFS / CFPS + 数字普惠指数 + 监管事件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5848" y="2212848"/>
            <a:ext cx="548640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主识别：高/低暴露区 × 前后  三重差分（DDD）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5848" y="2907792"/>
            <a:ext cx="5486400" cy="566928"/>
          </a:xfrm>
          <a:prstGeom prst="roundRect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稳健：数字普惠连续处理 2SLS  +  PSM-DID  +  平行趋势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3675887"/>
            <a:ext cx="5486400" cy="512064"/>
          </a:xfrm>
          <a:prstGeom prst="roundRect">
            <a:avLst/>
          </a:prstGeom>
          <a:solidFill>
            <a:srgbClr val="6A3D9A"/>
          </a:solidFill>
          <a:ln w="1270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异质性：低收入 / 年轻 / 已多头 组应更强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4370832"/>
            <a:ext cx="5486400" cy="566928"/>
          </a:xfrm>
          <a:prstGeom prst="roundRect">
            <a:avLst/>
          </a:prstGeom>
          <a:solidFill>
            <a:srgbClr val="C05A16"/>
          </a:solidFill>
          <a:ln w="12700">
            <a:solidFill>
              <a:srgbClr val="C0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结论与政策闭环：金融AI消费者保护 · 共债治理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9048" y="1335024"/>
            <a:ext cx="0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029968"/>
            <a:ext cx="0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724912"/>
            <a:ext cx="0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9048" y="3474720"/>
            <a:ext cx="0" cy="201167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8" y="4187951"/>
            <a:ext cx="0" cy="182881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" y="6053328"/>
            <a:ext cx="11643055" cy="384048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</a:rPr>
              <a:t>三章逻辑闭环：微观(公司内组成效应) → 中观(行业/区域扩散) → 宏观(家庭脆弱性与监管)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