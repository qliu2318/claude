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讲稿：</a:t>
            </a:r>
          </a:p>
          <a:p>
            <a:r>
              <a:t>1. 自变量是 LLM 大模型接入这一可识别的技术冲击，非泛泛“AI”。</a:t>
            </a:r>
          </a:p>
          <a:p>
            <a:r>
              <a:t>2. 两条机制：模型更会找有意向的人、更会个性化劝说。</a:t>
            </a:r>
          </a:p>
          <a:p>
            <a:r>
              <a:t>3. 落脚不在转化率，而在双刃——可得性与脆弱性是否同时上升。</a:t>
            </a:r>
          </a:p>
          <a:p>
            <a:r>
              <a:t>4. 关键识别任务：脆弱性上升是“更脆弱的人被卷入”还是“同类人借得更糟”。</a:t>
            </a:r>
          </a:p>
          <a:p>
            <a:r>
              <a:t>5. 同一条 X→Y 链在微观/中观/宏观三套数据各识别一遍，互证后收口政策。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09728"/>
            <a:ext cx="11643055" cy="548640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技术路线图 — LLM 大模型接入对消费者借贷行为的影响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01744" y="841248"/>
            <a:ext cx="4389120" cy="548640"/>
          </a:xfrm>
          <a:prstGeom prst="round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X｜LLM 大模型接入·数字信贷触达升级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55824" y="1627632"/>
            <a:ext cx="329184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机制①  意向识别能力 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44944" y="1627632"/>
            <a:ext cx="3291840" cy="512064"/>
          </a:xfrm>
          <a:prstGeom prst="roundRect">
            <a:avLst/>
          </a:prstGeom>
          <a:solidFill>
            <a:srgbClr val="1B7F79"/>
          </a:solidFill>
          <a:ln w="12700">
            <a:solidFill>
              <a:srgbClr val="1B7F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机制②  个性化劝说力 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432304"/>
            <a:ext cx="3200400" cy="731520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Y-A 信贷可得性 ↑
更多人·更易借到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9815" y="2432304"/>
            <a:ext cx="3200400" cy="731520"/>
          </a:xfrm>
          <a:prstGeom prst="roundRect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Y-B 金融脆弱性 ↑
重复借贷·多头·逾期违约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03120"/>
            <a:ext cx="304769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i="1" b="1">
                <a:solidFill>
                  <a:srgbClr val="8A4B08"/>
                </a:solidFill>
                <a:latin typeface="Microsoft YaHei"/>
              </a:rPr>
              <a:t>—— 双刃张力 ——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11880" y="2798064"/>
            <a:ext cx="4967935" cy="0"/>
          </a:xfrm>
          <a:prstGeom prst="line">
            <a:avLst/>
          </a:prstGeom>
          <a:ln w="19050">
            <a:solidFill>
              <a:srgbClr val="8A4B0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5227624" y="3346704"/>
            <a:ext cx="1737360" cy="914400"/>
          </a:xfrm>
          <a:prstGeom prst="diamond">
            <a:avLst/>
          </a:prstGeom>
          <a:solidFill>
            <a:srgbClr val="C87F0A"/>
          </a:solidFill>
          <a:ln w="12700">
            <a:solidFill>
              <a:srgbClr val="C87F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脆弱性
来源分解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4434840"/>
            <a:ext cx="2651760" cy="566928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组成·外延
更脆弱人群被卷入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3815" y="4434840"/>
            <a:ext cx="2651760" cy="566928"/>
          </a:xfrm>
          <a:prstGeom prst="roundRect">
            <a:avLst/>
          </a:prstGeom>
          <a:solidFill>
            <a:srgbClr val="F1D9A8"/>
          </a:solidFill>
          <a:ln w="12700">
            <a:solidFill>
              <a:srgbClr val="F1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202833"/>
                </a:solidFill>
                <a:latin typeface="Microsoft YaHei"/>
              </a:rPr>
              <a:t>行为·内涵
同类人借贷恶化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5175504"/>
            <a:ext cx="3611880" cy="73152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第一章·微观 马消客户级
Stacked RD-in-time + DFL 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5175504"/>
            <a:ext cx="3611880" cy="73152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第二章·中观 裁判文书+扩散代理
双向FE + Bartik IV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5175504"/>
            <a:ext cx="3611880" cy="73152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第三章·宏观 CHFS/CFPS
监管DDD + 2SLS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6053328"/>
            <a:ext cx="11643055" cy="548640"/>
          </a:xfrm>
          <a:prstGeom prst="rect">
            <a:avLst/>
          </a:prstGeom>
          <a:solidFill>
            <a:srgbClr val="1F3B5B"/>
          </a:solidFill>
          <a:ln w="12700">
            <a:solidFill>
              <a:srgbClr val="1F3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结论与政策：智能信贷触达让更多人借到钱——是否也让更多人陷进去？  金融AI消费者保护 · 共债治理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3901744" y="1389888"/>
            <a:ext cx="2194560" cy="23774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6304" y="1389888"/>
            <a:ext cx="2194560" cy="23774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011680" y="2139696"/>
            <a:ext cx="1890064" cy="29260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290864" y="2139696"/>
            <a:ext cx="1889151" cy="292608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901744" y="2139696"/>
            <a:ext cx="7695591" cy="292608"/>
          </a:xfrm>
          <a:prstGeom prst="line">
            <a:avLst/>
          </a:prstGeom>
          <a:ln w="12700">
            <a:solidFill>
              <a:srgbClr val="9AA7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94360" y="2139696"/>
            <a:ext cx="7696504" cy="292608"/>
          </a:xfrm>
          <a:prstGeom prst="line">
            <a:avLst/>
          </a:prstGeom>
          <a:ln w="12700">
            <a:solidFill>
              <a:srgbClr val="9AA7B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096304" y="3163824"/>
            <a:ext cx="4083711" cy="1828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572000" y="4261104"/>
            <a:ext cx="1524304" cy="1737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6304" y="4261104"/>
            <a:ext cx="1523391" cy="1737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915668" y="3163824"/>
            <a:ext cx="96012" cy="201168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281428" y="5001768"/>
            <a:ext cx="2290572" cy="1737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647188" y="5001768"/>
            <a:ext cx="4972507" cy="173736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087368" y="5541264"/>
            <a:ext cx="201168" cy="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0416" y="5541264"/>
            <a:ext cx="201167" cy="0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907523" y="5907024"/>
            <a:ext cx="0" cy="146304"/>
          </a:xfrm>
          <a:prstGeom prst="line">
            <a:avLst/>
          </a:prstGeom>
          <a:ln w="19050">
            <a:solidFill>
              <a:srgbClr val="5A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